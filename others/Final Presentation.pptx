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58" r:id="rId5"/>
    <p:sldId id="259" r:id="rId6"/>
    <p:sldId id="260" r:id="rId7"/>
    <p:sldId id="267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4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109F3-5503-4E61-97C9-DA57CAC012B7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7E6C7-F020-44A1-9725-0D8637614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1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E6642-981F-49F8-95F0-F65B2EEEC26F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9CC2F-9F76-41AF-AEA6-C95458280BAE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1356-554D-4C8C-A3BE-11092F675C46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10C6A-C39E-4C62-963F-333AB7846B92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188B-C9A9-41EE-AB34-E8B6376A57C9}" type="datetime1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E5AF-C265-4CFD-A9EB-B018EE8E7377}" type="datetime1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1AF8-EE12-4A92-8024-37A3087C5592}" type="datetime1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F5EE5-96D8-4BC3-9F18-D86A21CEF182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36458-1B50-4735-8A58-198B6C64DCF0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FFC96-6B33-4240-9C12-D990AB911609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8DC0-430F-4632-AF17-BF9050828052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6: Abdul Hadi Kabir &amp; Ahnaf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14EDE-253D-423B-82AF-1ED4BE002B36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6: Abdul Hadi Kabir &amp; Ahnaf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C26BD0-58BF-74DD-3200-A2F23DFD7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17" y="2525300"/>
            <a:ext cx="5523961" cy="21755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8" y="1663526"/>
            <a:ext cx="898398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8FF"/>
                </a:solidFill>
              </a:defRPr>
            </a:pPr>
            <a:r>
              <a:rPr lang="en-US" sz="5000" b="1" dirty="0">
                <a:highlight>
                  <a:srgbClr val="000000"/>
                </a:highlight>
              </a:rPr>
              <a:t>Simple Pixel Art Editor 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680" y="4739369"/>
            <a:ext cx="5590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CSE115 || SECTION: 04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Group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Abdul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Hadi Kabir (ID: 2534257042)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Ahnaf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Tahmid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Islam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ID: 2532168042)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-E-Rabbi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MSRb</a:t>
            </a:r>
            <a:r>
              <a:rPr lang="en-US" sz="2000" dirty="0" smtClean="0"/>
              <a:t>)</a:t>
            </a:r>
            <a:endParaRPr dirty="0"/>
          </a:p>
        </p:txBody>
      </p:sp>
      <p:pic>
        <p:nvPicPr>
          <p:cNvPr id="2" name="Picture 1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708B9D9A-B0BA-7209-5ED0-A5A65BD31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74" y="0"/>
            <a:ext cx="1219048" cy="12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0D7C0B-9EDE-F100-9B42-50F89F0B5F24}"/>
              </a:ext>
            </a:extLst>
          </p:cNvPr>
          <p:cNvSpPr txBox="1"/>
          <p:nvPr/>
        </p:nvSpPr>
        <p:spPr>
          <a:xfrm>
            <a:off x="2110957" y="1190699"/>
            <a:ext cx="4922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chemeClr val="bg1"/>
                </a:solidFill>
              </a:rPr>
              <a:t>FINAL PROJECT PRESENTATION</a:t>
            </a:r>
            <a:endParaRPr lang="en-US" sz="2800" b="1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048" y="57271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dirty="0"/>
              <a:t>Project Overview:</a:t>
            </a:r>
            <a:endParaRPr dirty="0"/>
          </a:p>
        </p:txBody>
      </p:sp>
      <p:pic>
        <p:nvPicPr>
          <p:cNvPr id="9" name="Picture 8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43076F0D-BD65-34F7-4436-B29C4C93A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508819-DF3E-008D-68DA-6B2942E04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02374"/>
              </p:ext>
            </p:extLst>
          </p:nvPr>
        </p:nvGraphicFramePr>
        <p:xfrm>
          <a:off x="792956" y="1397131"/>
          <a:ext cx="7558088" cy="406373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779044">
                  <a:extLst>
                    <a:ext uri="{9D8B030D-6E8A-4147-A177-3AD203B41FA5}">
                      <a16:colId xmlns:a16="http://schemas.microsoft.com/office/drawing/2014/main" val="3577859457"/>
                    </a:ext>
                  </a:extLst>
                </a:gridCol>
                <a:gridCol w="3779044">
                  <a:extLst>
                    <a:ext uri="{9D8B030D-6E8A-4147-A177-3AD203B41FA5}">
                      <a16:colId xmlns:a16="http://schemas.microsoft.com/office/drawing/2014/main" val="2685568211"/>
                    </a:ext>
                  </a:extLst>
                </a:gridCol>
              </a:tblGrid>
              <a:tr h="78829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What is it?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2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Why did we choose this?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10259"/>
                  </a:ext>
                </a:extLst>
              </a:tr>
              <a:tr h="32407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Imagine "MS Paint," but built entirely with text characters in the console.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 master core C concepts.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 apply 2D [arrays] for the canvas.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 use loops (🔄 ) for drawing and displaying. 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 implement recursion for the "fill" tool.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03188908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4F989-D63C-2992-CD56-2319A8D4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73CFC-7085-FCD8-95C3-49E58385DBFB}"/>
              </a:ext>
            </a:extLst>
          </p:cNvPr>
          <p:cNvSpPr txBox="1"/>
          <p:nvPr/>
        </p:nvSpPr>
        <p:spPr>
          <a:xfrm>
            <a:off x="1219048" y="57271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dirty="0"/>
              <a:t>Core Features:</a:t>
            </a:r>
            <a:endParaRPr dirty="0"/>
          </a:p>
        </p:txBody>
      </p:sp>
      <p:pic>
        <p:nvPicPr>
          <p:cNvPr id="9" name="Picture 8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3D275E8B-ABDD-044F-D7C9-2A0FE3325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BDD30-5C8E-9EE0-33B1-AC0F2CECF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31213"/>
              </p:ext>
            </p:extLst>
          </p:nvPr>
        </p:nvGraphicFramePr>
        <p:xfrm>
          <a:off x="792956" y="1452282"/>
          <a:ext cx="7558088" cy="388351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779044">
                  <a:extLst>
                    <a:ext uri="{9D8B030D-6E8A-4147-A177-3AD203B41FA5}">
                      <a16:colId xmlns:a16="http://schemas.microsoft.com/office/drawing/2014/main" val="3577859457"/>
                    </a:ext>
                  </a:extLst>
                </a:gridCol>
                <a:gridCol w="3779044">
                  <a:extLst>
                    <a:ext uri="{9D8B030D-6E8A-4147-A177-3AD203B41FA5}">
                      <a16:colId xmlns:a16="http://schemas.microsoft.com/office/drawing/2014/main" val="2685568211"/>
                    </a:ext>
                  </a:extLst>
                </a:gridCol>
              </a:tblGrid>
              <a:tr h="47359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10259"/>
                  </a:ext>
                </a:extLst>
              </a:tr>
              <a:tr h="8524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Custom Canvas Size </a:t>
                      </a:r>
                      <a:r>
                        <a:rPr lang="fi-FI" sz="3000" dirty="0">
                          <a:solidFill>
                            <a:schemeClr val="tx1"/>
                          </a:solidFill>
                        </a:rPr>
                        <a:t>🖼️</a:t>
                      </a:r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User can choose the size of the canvas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03188908"/>
                  </a:ext>
                </a:extLst>
              </a:tr>
              <a:tr h="8524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Drawing Tool </a:t>
                      </a:r>
                      <a:r>
                        <a:rPr lang="en-US" sz="3000" dirty="0">
                          <a:latin typeface="Courier New" panose="02070309020205020404" pitchFamily="49" charset="0"/>
                        </a:rPr>
                        <a:t>✏️</a:t>
                      </a:r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Allows user to draw whatever symbol they want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536348"/>
                  </a:ext>
                </a:extLst>
              </a:tr>
              <a:tr h="8524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Eraser Tool </a:t>
                      </a:r>
                      <a:r>
                        <a:rPr lang="en-US" sz="3000" dirty="0">
                          <a:latin typeface="Courier New" panose="02070309020205020404" pitchFamily="49" charset="0"/>
                        </a:rPr>
                        <a:t>🧼</a:t>
                      </a:r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Erases the chosen symbol and replaces with ‘.’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95729558"/>
                  </a:ext>
                </a:extLst>
              </a:tr>
              <a:tr h="8524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Fill Tool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Can fill an area with the chosen symbol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6661238"/>
                  </a:ext>
                </a:extLst>
              </a:tr>
            </a:tbl>
          </a:graphicData>
        </a:graphic>
      </p:graphicFrame>
      <p:pic>
        <p:nvPicPr>
          <p:cNvPr id="2" name="Picture 1" descr="A paint bucket with red paint dripping&#10;&#10;AI-generated content may be incorrect.">
            <a:extLst>
              <a:ext uri="{FF2B5EF4-FFF2-40B4-BE49-F238E27FC236}">
                <a16:creationId xmlns:a16="http://schemas.microsoft.com/office/drawing/2014/main" id="{1E5233F3-C696-DB87-C47E-6209D3E32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929" y="4491091"/>
            <a:ext cx="484095" cy="484095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25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048" y="30464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dirty="0"/>
              <a:t>The Heart: Canvas </a:t>
            </a:r>
            <a:endParaRPr dirty="0"/>
          </a:p>
        </p:txBody>
      </p:sp>
      <p:pic>
        <p:nvPicPr>
          <p:cNvPr id="2" name="Picture 1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B2800DBA-072E-121D-D134-498774A4F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87D905-F991-46FC-294E-57A02F89A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854224"/>
              </p:ext>
            </p:extLst>
          </p:nvPr>
        </p:nvGraphicFramePr>
        <p:xfrm>
          <a:off x="609524" y="1297526"/>
          <a:ext cx="7924952" cy="51304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924952">
                  <a:extLst>
                    <a:ext uri="{9D8B030D-6E8A-4147-A177-3AD203B41FA5}">
                      <a16:colId xmlns:a16="http://schemas.microsoft.com/office/drawing/2014/main" val="1565288815"/>
                    </a:ext>
                  </a:extLst>
                </a:gridCol>
              </a:tblGrid>
              <a:tr h="2255895">
                <a:tc>
                  <a:txBody>
                    <a:bodyPr/>
                    <a:lstStyle/>
                    <a:p>
                      <a:r>
                        <a:rPr lang="en-US" b="1" u="sng" dirty="0">
                          <a:solidFill>
                            <a:schemeClr val="bg1"/>
                          </a:solidFill>
                        </a:rPr>
                        <a:t>How the canvas loop functions works:</a:t>
                      </a:r>
                    </a:p>
                    <a:p>
                      <a:r>
                        <a:rPr lang="en-US" b="0" u="sng" dirty="0" err="1">
                          <a:solidFill>
                            <a:schemeClr val="bg1"/>
                          </a:solidFill>
                        </a:rPr>
                        <a:t>initCanvas</a:t>
                      </a:r>
                      <a:r>
                        <a:rPr lang="en-US" b="0" u="sng" dirty="0">
                          <a:solidFill>
                            <a:schemeClr val="bg1"/>
                          </a:solidFill>
                        </a:rPr>
                        <a:t>():</a:t>
                      </a:r>
                      <a:r>
                        <a:rPr lang="en-US" b="0" u="none" dirty="0">
                          <a:solidFill>
                            <a:schemeClr val="bg1"/>
                          </a:solidFill>
                        </a:rPr>
                        <a:t> It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loops through every "pixel“ of the array and sets it to a dot </a:t>
                      </a:r>
                      <a:r>
                        <a:rPr lang="en-US" b="0" dirty="0" smtClean="0">
                          <a:solidFill>
                            <a:schemeClr val="bg1"/>
                          </a:solidFill>
                        </a:rPr>
                        <a:t>(.)</a:t>
                      </a:r>
                      <a:r>
                        <a:rPr lang="en-US" b="0" baseline="0" dirty="0" smtClean="0">
                          <a:solidFill>
                            <a:schemeClr val="bg1"/>
                          </a:solidFill>
                        </a:rPr>
                        <a:t> and creates dynamically sized 2D array with the help of double pointers. 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b="0" u="sng" dirty="0" err="1">
                          <a:solidFill>
                            <a:schemeClr val="bg1"/>
                          </a:solidFill>
                        </a:rPr>
                        <a:t>displayCanvas</a:t>
                      </a:r>
                      <a:r>
                        <a:rPr lang="en-US" b="0" u="sng" dirty="0">
                          <a:solidFill>
                            <a:schemeClr val="bg1"/>
                          </a:solidFill>
                        </a:rPr>
                        <a:t>():</a:t>
                      </a:r>
                      <a:r>
                        <a:rPr lang="en-US" b="0" u="none" dirty="0">
                          <a:solidFill>
                            <a:schemeClr val="bg1"/>
                          </a:solidFill>
                        </a:rPr>
                        <a:t> It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loops and </a:t>
                      </a:r>
                      <a:r>
                        <a:rPr lang="en-US" b="0" dirty="0" err="1" smtClean="0">
                          <a:solidFill>
                            <a:schemeClr val="bg1"/>
                          </a:solidFill>
                        </a:rPr>
                        <a:t>printf’s</a:t>
                      </a:r>
                      <a:r>
                        <a:rPr lang="en-US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the dots and the numbers.</a:t>
                      </a:r>
                    </a:p>
                    <a:p>
                      <a:endParaRPr lang="en-US" b="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b="0" u="sng" dirty="0" err="1">
                          <a:solidFill>
                            <a:schemeClr val="bg1"/>
                          </a:solidFill>
                        </a:rPr>
                        <a:t>clearCanvas</a:t>
                      </a:r>
                      <a:r>
                        <a:rPr lang="en-US" b="0" u="sng" dirty="0">
                          <a:solidFill>
                            <a:schemeClr val="bg1"/>
                          </a:solidFill>
                        </a:rPr>
                        <a:t>():</a:t>
                      </a:r>
                      <a:r>
                        <a:rPr lang="en-US" b="0" u="none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It replaces the character with a dot (.) in the rows and columns.</a:t>
                      </a:r>
                    </a:p>
                    <a:p>
                      <a:r>
                        <a:rPr lang="en-US" b="0" u="sng" dirty="0" err="1">
                          <a:solidFill>
                            <a:schemeClr val="bg1"/>
                          </a:solidFill>
                        </a:rPr>
                        <a:t>freeCanvas</a:t>
                      </a:r>
                      <a:r>
                        <a:rPr lang="en-US" b="0" u="sng" dirty="0">
                          <a:solidFill>
                            <a:schemeClr val="bg1"/>
                          </a:solidFill>
                        </a:rPr>
                        <a:t>(): </a:t>
                      </a:r>
                      <a:r>
                        <a:rPr lang="en-US" b="0" dirty="0"/>
                        <a:t>It deletes the canvas from memory, so the program stays safe and clean.</a:t>
                      </a:r>
                      <a:endParaRPr lang="en-US" b="0" u="sng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342530"/>
                  </a:ext>
                </a:extLst>
              </a:tr>
              <a:tr h="28444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0033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CC0354C-0B7C-79A1-95FC-71A4110ADEA7}"/>
              </a:ext>
            </a:extLst>
          </p:cNvPr>
          <p:cNvSpPr txBox="1"/>
          <p:nvPr/>
        </p:nvSpPr>
        <p:spPr>
          <a:xfrm>
            <a:off x="703654" y="4446243"/>
            <a:ext cx="25639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 err="1">
                <a:latin typeface="Courier New" panose="02070309020205020404" pitchFamily="49" charset="0"/>
              </a:rPr>
              <a:t>initCanvas</a:t>
            </a:r>
            <a:r>
              <a:rPr lang="en-US" b="1" dirty="0">
                <a:latin typeface="Courier New" panose="02070309020205020404" pitchFamily="49" charset="0"/>
              </a:rPr>
              <a:t>() </a:t>
            </a:r>
          </a:p>
          <a:p>
            <a:pPr algn="ctr">
              <a:buNone/>
            </a:pPr>
            <a:r>
              <a:rPr lang="en-US" b="1" dirty="0">
                <a:latin typeface="Courier New" panose="02070309020205020404" pitchFamily="49" charset="0"/>
              </a:rPr>
              <a:t>and </a:t>
            </a:r>
            <a:r>
              <a:rPr lang="en-US" b="1" dirty="0" err="1">
                <a:latin typeface="Courier New" panose="02070309020205020404" pitchFamily="49" charset="0"/>
              </a:rPr>
              <a:t>displayCanvas</a:t>
            </a:r>
            <a:r>
              <a:rPr lang="en-US" b="1" dirty="0">
                <a:latin typeface="Courier New" panose="02070309020205020404" pitchFamily="49" charset="0"/>
              </a:rPr>
              <a:t>():</a:t>
            </a:r>
            <a:endParaRPr lang="en-US" dirty="0"/>
          </a:p>
        </p:txBody>
      </p:sp>
      <p:pic>
        <p:nvPicPr>
          <p:cNvPr id="8" name="Picture 7" descr="A black and white screen with numbers&#10;&#10;AI-generated content may be incorrect.">
            <a:extLst>
              <a:ext uri="{FF2B5EF4-FFF2-40B4-BE49-F238E27FC236}">
                <a16:creationId xmlns:a16="http://schemas.microsoft.com/office/drawing/2014/main" id="{65ABAFB7-9353-7DB0-442F-FAB24CD56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766" y="3579402"/>
            <a:ext cx="4787152" cy="2657012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41177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2318" y="609524"/>
            <a:ext cx="8724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sz="3600" b="1" dirty="0"/>
              <a:t>The Drawing Engine (Part 1: Pencil &amp; </a:t>
            </a:r>
          </a:p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sz="3600" b="1" dirty="0"/>
              <a:t>Eraser) </a:t>
            </a:r>
          </a:p>
        </p:txBody>
      </p:sp>
      <p:pic>
        <p:nvPicPr>
          <p:cNvPr id="2" name="Picture 1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B4F33535-F731-1A2E-41AF-284F16714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A99071-AF77-8BD6-2FC2-AC33D45AA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379218"/>
              </p:ext>
            </p:extLst>
          </p:nvPr>
        </p:nvGraphicFramePr>
        <p:xfrm>
          <a:off x="989608" y="1865379"/>
          <a:ext cx="7164784" cy="423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82392">
                  <a:extLst>
                    <a:ext uri="{9D8B030D-6E8A-4147-A177-3AD203B41FA5}">
                      <a16:colId xmlns:a16="http://schemas.microsoft.com/office/drawing/2014/main" val="1945961199"/>
                    </a:ext>
                  </a:extLst>
                </a:gridCol>
                <a:gridCol w="3582392">
                  <a:extLst>
                    <a:ext uri="{9D8B030D-6E8A-4147-A177-3AD203B41FA5}">
                      <a16:colId xmlns:a16="http://schemas.microsoft.com/office/drawing/2014/main" val="2657942759"/>
                    </a:ext>
                  </a:extLst>
                </a:gridCol>
              </a:tblGrid>
              <a:tr h="509249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We have built the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</a:rPr>
                        <a:t>engine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 functions that will power the editor: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291059"/>
                  </a:ext>
                </a:extLst>
              </a:tr>
              <a:tr h="3726135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drawPixel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(x, y, color)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Takes coordinates (x, y) and a character (color).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Changes the designated [x][y] to that character.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Includes boundary checks to prevent drawing outside the canvas.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erasePixel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(x, y)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simplified version of draw.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Resets canvas[x][y] back to the default dot (.).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482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6128893-EF9C-BA96-5193-C4F92A5A6130}"/>
              </a:ext>
            </a:extLst>
          </p:cNvPr>
          <p:cNvSpPr txBox="1"/>
          <p:nvPr/>
        </p:nvSpPr>
        <p:spPr>
          <a:xfrm rot="16200000">
            <a:off x="1939676" y="4856066"/>
            <a:ext cx="10925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Courier New" panose="02070309020205020404" pitchFamily="49" charset="0"/>
              </a:rPr>
              <a:t>✏️</a:t>
            </a:r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2D6E15-90C7-6A92-02B7-33C41CC3A8D9}"/>
              </a:ext>
            </a:extLst>
          </p:cNvPr>
          <p:cNvSpPr txBox="1"/>
          <p:nvPr/>
        </p:nvSpPr>
        <p:spPr>
          <a:xfrm>
            <a:off x="5828976" y="4938782"/>
            <a:ext cx="1011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Courier New" panose="02070309020205020404" pitchFamily="49" charset="0"/>
              </a:rPr>
              <a:t>🧼</a:t>
            </a:r>
            <a:r>
              <a:rPr lang="en-US" sz="5400" dirty="0"/>
              <a:t> 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048" y="295718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sz="3600" b="1" dirty="0"/>
              <a:t>The Drawing Engine (Part 2: The Fill Tool)</a:t>
            </a:r>
          </a:p>
        </p:txBody>
      </p:sp>
      <p:pic>
        <p:nvPicPr>
          <p:cNvPr id="2" name="Picture 1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76A8EDD0-633A-E95E-21C1-33623632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22D8B7-378D-126A-999C-A69F6088D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315473"/>
              </p:ext>
            </p:extLst>
          </p:nvPr>
        </p:nvGraphicFramePr>
        <p:xfrm>
          <a:off x="1104898" y="2438097"/>
          <a:ext cx="6934200" cy="36175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648908126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63968907"/>
                    </a:ext>
                  </a:extLst>
                </a:gridCol>
              </a:tblGrid>
              <a:tr h="91123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The "Paint Bucket" Tool: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fillArea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(x, y, target, replacement)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The "Paint Bucket" Tool: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fillArea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(x, y, target, replacement)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519345"/>
                  </a:ext>
                </a:extLst>
              </a:tr>
              <a:tr h="270319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This is our most complex function.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It uses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Recursion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(a function that calls itself) to spread.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Checks the current pixel (x, y).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If it's the target color (e.g., '.'), it replaces it.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Then, it calls 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itself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for all 4 neighbors (Up, Down, Left, Right).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This chain reaction fills an entire enclosed area.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853265"/>
                  </a:ext>
                </a:extLst>
              </a:tr>
            </a:tbl>
          </a:graphicData>
        </a:graphic>
      </p:graphicFrame>
      <p:pic>
        <p:nvPicPr>
          <p:cNvPr id="6" name="Picture 5" descr="A paint bucket with red paint dripping&#10;&#10;AI-generated content may be incorrect.">
            <a:extLst>
              <a:ext uri="{FF2B5EF4-FFF2-40B4-BE49-F238E27FC236}">
                <a16:creationId xmlns:a16="http://schemas.microsoft.com/office/drawing/2014/main" id="{AE17C3E0-7060-F9FF-9D78-B06D4EFB3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344" y="1247243"/>
            <a:ext cx="1011308" cy="10113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46A972-A2B7-3C5D-399E-DBBD4A094AE0}"/>
              </a:ext>
            </a:extLst>
          </p:cNvPr>
          <p:cNvSpPr txBox="1"/>
          <p:nvPr/>
        </p:nvSpPr>
        <p:spPr>
          <a:xfrm>
            <a:off x="3145666" y="1568231"/>
            <a:ext cx="355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 Paint                             Bucket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</a:t>
            </a:r>
            <a:r>
              <a:rPr lang="en-US" sz="1400" dirty="0" err="1">
                <a:solidFill>
                  <a:schemeClr val="bg1"/>
                </a:solidFill>
              </a:rPr>
              <a:t>Hadi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Kabir</a:t>
            </a:r>
            <a:r>
              <a:rPr lang="en-US" sz="1400" dirty="0" smtClean="0">
                <a:solidFill>
                  <a:schemeClr val="bg1"/>
                </a:solidFill>
              </a:rPr>
              <a:t>  </a:t>
            </a:r>
            <a:r>
              <a:rPr lang="en-US" sz="1400" dirty="0">
                <a:solidFill>
                  <a:schemeClr val="bg1"/>
                </a:solidFill>
              </a:rPr>
              <a:t>&amp; </a:t>
            </a:r>
            <a:r>
              <a:rPr lang="en-US" sz="1400" dirty="0" smtClean="0">
                <a:solidFill>
                  <a:schemeClr val="bg1"/>
                </a:solidFill>
              </a:rPr>
              <a:t>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50D6E-A65A-1DAB-ADE8-1B9E9FC3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E9A179-37A3-B2B0-C000-84BEAE646481}"/>
              </a:ext>
            </a:extLst>
          </p:cNvPr>
          <p:cNvSpPr txBox="1"/>
          <p:nvPr/>
        </p:nvSpPr>
        <p:spPr>
          <a:xfrm>
            <a:off x="1219048" y="57271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dirty="0"/>
              <a:t>User Guide:</a:t>
            </a:r>
            <a:endParaRPr dirty="0"/>
          </a:p>
        </p:txBody>
      </p:sp>
      <p:pic>
        <p:nvPicPr>
          <p:cNvPr id="9" name="Picture 8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F977C90F-67A3-5A05-FC4B-AA8099CF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6B9FE0-C8AC-0D37-AD53-45DA4A231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783886"/>
              </p:ext>
            </p:extLst>
          </p:nvPr>
        </p:nvGraphicFramePr>
        <p:xfrm>
          <a:off x="1115686" y="1487244"/>
          <a:ext cx="7558088" cy="388351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51950">
                  <a:extLst>
                    <a:ext uri="{9D8B030D-6E8A-4147-A177-3AD203B41FA5}">
                      <a16:colId xmlns:a16="http://schemas.microsoft.com/office/drawing/2014/main" val="3577859457"/>
                    </a:ext>
                  </a:extLst>
                </a:gridCol>
                <a:gridCol w="5406138">
                  <a:extLst>
                    <a:ext uri="{9D8B030D-6E8A-4147-A177-3AD203B41FA5}">
                      <a16:colId xmlns:a16="http://schemas.microsoft.com/office/drawing/2014/main" val="2685568211"/>
                    </a:ext>
                  </a:extLst>
                </a:gridCol>
              </a:tblGrid>
              <a:tr h="47359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What happens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010259"/>
                  </a:ext>
                </a:extLst>
              </a:tr>
              <a:tr h="8524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Choose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Dimensions</a:t>
                      </a:r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Program allocates memory and creates a customized area for drawing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03188908"/>
                  </a:ext>
                </a:extLst>
              </a:tr>
              <a:tr h="8524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Draw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Can replace a singular dot with any symbol one at a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2536348"/>
                  </a:ext>
                </a:extLst>
              </a:tr>
              <a:tr h="8524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Fill/Erase</a:t>
                      </a:r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Can fill an area of the user’s choosing and erase as well.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95729558"/>
                  </a:ext>
                </a:extLst>
              </a:tr>
              <a:tr h="8524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canvas is cleared to a fresh and new canvas for the user to draw again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6661238"/>
                  </a:ext>
                </a:extLst>
              </a:tr>
            </a:tbl>
          </a:graphicData>
        </a:graphic>
      </p:graphicFrame>
      <p:pic>
        <p:nvPicPr>
          <p:cNvPr id="15" name="Picture 14" descr="A blue arch with black background with Gateway Arch in the background&#10;&#10;AI-generated content may be incorrect.">
            <a:extLst>
              <a:ext uri="{FF2B5EF4-FFF2-40B4-BE49-F238E27FC236}">
                <a16:creationId xmlns:a16="http://schemas.microsoft.com/office/drawing/2014/main" id="{8AE25ED4-88E9-6F76-1C1C-ADD601D99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664583" y="3035673"/>
            <a:ext cx="2548218" cy="94129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670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048" y="57271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sz="3600" b="1" dirty="0"/>
              <a:t>Output example</a:t>
            </a:r>
          </a:p>
        </p:txBody>
      </p:sp>
      <p:pic>
        <p:nvPicPr>
          <p:cNvPr id="2" name="Picture 1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F6BF02F0-BB93-4DA5-50A5-3D78B340D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82C4ED-3976-990A-233B-A9C90DC05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742090"/>
              </p:ext>
            </p:extLst>
          </p:nvPr>
        </p:nvGraphicFramePr>
        <p:xfrm>
          <a:off x="881062" y="1568449"/>
          <a:ext cx="7381876" cy="40205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81876">
                  <a:extLst>
                    <a:ext uri="{9D8B030D-6E8A-4147-A177-3AD203B41FA5}">
                      <a16:colId xmlns:a16="http://schemas.microsoft.com/office/drawing/2014/main" val="3804570750"/>
                    </a:ext>
                  </a:extLst>
                </a:gridCol>
              </a:tblGrid>
              <a:tr h="83185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With the help of the user menu, you can use our draw and fill functions to create art like this: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11836"/>
                  </a:ext>
                </a:extLst>
              </a:tr>
              <a:tr h="31886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1334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B3BDDDE-F954-77D9-4C7D-E6465B5094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93" t="6490" r="11896" b="3959"/>
          <a:stretch>
            <a:fillRect/>
          </a:stretch>
        </p:blipFill>
        <p:spPr>
          <a:xfrm>
            <a:off x="3603812" y="2447368"/>
            <a:ext cx="1936376" cy="2988383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3404" y="57271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sz="3600" b="1" dirty="0"/>
              <a:t>Errors and fixes</a:t>
            </a:r>
          </a:p>
        </p:txBody>
      </p:sp>
      <p:pic>
        <p:nvPicPr>
          <p:cNvPr id="2" name="Picture 1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5727A310-DF35-9AB4-3339-C41DB7252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962" y="0"/>
            <a:ext cx="1219048" cy="121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3906F6-944C-B105-CBDC-684D8ADBF00F}"/>
              </a:ext>
            </a:extLst>
          </p:cNvPr>
          <p:cNvSpPr txBox="1"/>
          <p:nvPr/>
        </p:nvSpPr>
        <p:spPr>
          <a:xfrm rot="19835551">
            <a:off x="7681634" y="5563659"/>
            <a:ext cx="1099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👾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AB5A70-BF9B-0554-1B89-7D378BB25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157507"/>
              </p:ext>
            </p:extLst>
          </p:nvPr>
        </p:nvGraphicFramePr>
        <p:xfrm>
          <a:off x="956374" y="1259390"/>
          <a:ext cx="7231252" cy="250885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633991">
                  <a:extLst>
                    <a:ext uri="{9D8B030D-6E8A-4147-A177-3AD203B41FA5}">
                      <a16:colId xmlns:a16="http://schemas.microsoft.com/office/drawing/2014/main" val="2825383716"/>
                    </a:ext>
                  </a:extLst>
                </a:gridCol>
                <a:gridCol w="4597261">
                  <a:extLst>
                    <a:ext uri="{9D8B030D-6E8A-4147-A177-3AD203B41FA5}">
                      <a16:colId xmlns:a16="http://schemas.microsoft.com/office/drawing/2014/main" val="405179134"/>
                    </a:ext>
                  </a:extLst>
                </a:gridCol>
              </a:tblGrid>
              <a:tr h="78243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Wrong coordinates 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Shows error message if negative co-ordinates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446390"/>
                  </a:ext>
                </a:extLst>
              </a:tr>
              <a:tr h="76629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Oversized canvas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Limited by recommended canvas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638735"/>
                  </a:ext>
                </a:extLst>
              </a:tr>
              <a:tr h="86293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Fill infinite recursion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Stops the fill tool from calling itself infinitely.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1094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BA5896-91D0-5C05-CC6C-91531A15D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644248"/>
              </p:ext>
            </p:extLst>
          </p:nvPr>
        </p:nvGraphicFramePr>
        <p:xfrm>
          <a:off x="956374" y="4041879"/>
          <a:ext cx="7231252" cy="14041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31252">
                  <a:extLst>
                    <a:ext uri="{9D8B030D-6E8A-4147-A177-3AD203B41FA5}">
                      <a16:colId xmlns:a16="http://schemas.microsoft.com/office/drawing/2014/main" val="1455897911"/>
                    </a:ext>
                  </a:extLst>
                </a:gridCol>
              </a:tblGrid>
              <a:tr h="48978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UI issue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149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column numbers are not in line with the respective column dots which may cause confusion when finding the correct confusion. We plan to fix it in the future updates. 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51343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AD72C9-6410-41A3-939E-5AC3F8C6882E}"/>
              </a:ext>
            </a:extLst>
          </p:cNvPr>
          <p:cNvSpPr txBox="1"/>
          <p:nvPr/>
        </p:nvSpPr>
        <p:spPr>
          <a:xfrm>
            <a:off x="118408" y="5626832"/>
            <a:ext cx="10656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⚙️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D97DB-B87D-B483-2985-A496C9A39C0B}"/>
              </a:ext>
            </a:extLst>
          </p:cNvPr>
          <p:cNvSpPr txBox="1"/>
          <p:nvPr/>
        </p:nvSpPr>
        <p:spPr>
          <a:xfrm>
            <a:off x="7606929" y="151394"/>
            <a:ext cx="4740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/>
              <a:t>🔧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048" y="57271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sz="3600" b="1" dirty="0"/>
              <a:t>Future Improvements</a:t>
            </a:r>
          </a:p>
        </p:txBody>
      </p:sp>
      <p:pic>
        <p:nvPicPr>
          <p:cNvPr id="2" name="Picture 1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9567EFFE-21E6-40D0-544E-2F95A1FDF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4616E3-1EC8-B9FB-6EF3-8E547F5B6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389307"/>
              </p:ext>
            </p:extLst>
          </p:nvPr>
        </p:nvGraphicFramePr>
        <p:xfrm>
          <a:off x="762000" y="1219048"/>
          <a:ext cx="7620000" cy="50543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23247">
                  <a:extLst>
                    <a:ext uri="{9D8B030D-6E8A-4147-A177-3AD203B41FA5}">
                      <a16:colId xmlns:a16="http://schemas.microsoft.com/office/drawing/2014/main" val="2845826246"/>
                    </a:ext>
                  </a:extLst>
                </a:gridCol>
                <a:gridCol w="5396753">
                  <a:extLst>
                    <a:ext uri="{9D8B030D-6E8A-4147-A177-3AD203B41FA5}">
                      <a16:colId xmlns:a16="http://schemas.microsoft.com/office/drawing/2014/main" val="792379167"/>
                    </a:ext>
                  </a:extLst>
                </a:gridCol>
              </a:tblGrid>
              <a:tr h="43330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What it 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979055"/>
                  </a:ext>
                </a:extLst>
              </a:tr>
              <a:tr h="43330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Export 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Allow the user to save drawings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504099"/>
                  </a:ext>
                </a:extLst>
              </a:tr>
              <a:tr h="43330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Undo/Redo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Fix any mistakes they make quickly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21181"/>
                  </a:ext>
                </a:extLst>
              </a:tr>
              <a:tr h="77995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GUI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Support use of the mouse in drawing and use of colors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367005"/>
                  </a:ext>
                </a:extLst>
              </a:tr>
              <a:tr h="2859829">
                <a:tc gridSpan="2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All these combined will allow creation of art like these: 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513724"/>
                  </a:ext>
                </a:extLst>
              </a:tr>
            </a:tbl>
          </a:graphicData>
        </a:graphic>
      </p:graphicFrame>
      <p:pic>
        <p:nvPicPr>
          <p:cNvPr id="6" name="Picture 5" descr="A drawing of a person's face&#10;&#10;AI-generated content may be incorrect.">
            <a:extLst>
              <a:ext uri="{FF2B5EF4-FFF2-40B4-BE49-F238E27FC236}">
                <a16:creationId xmlns:a16="http://schemas.microsoft.com/office/drawing/2014/main" id="{183549D8-40A6-C328-59CE-EDA8736F2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034" y="3813313"/>
            <a:ext cx="2245658" cy="2331993"/>
          </a:xfrm>
          <a:prstGeom prst="rect">
            <a:avLst/>
          </a:prstGeom>
        </p:spPr>
      </p:pic>
      <p:pic>
        <p:nvPicPr>
          <p:cNvPr id="8" name="Picture 7" descr="A person with a beard&#10;&#10;AI-generated content may be incorrect.">
            <a:extLst>
              <a:ext uri="{FF2B5EF4-FFF2-40B4-BE49-F238E27FC236}">
                <a16:creationId xmlns:a16="http://schemas.microsoft.com/office/drawing/2014/main" id="{3CF6647D-C758-DF56-A025-394F3823CA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48" r="15628" b="32232"/>
          <a:stretch>
            <a:fillRect/>
          </a:stretch>
        </p:blipFill>
        <p:spPr>
          <a:xfrm>
            <a:off x="5049307" y="3788395"/>
            <a:ext cx="2245659" cy="2356911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10DC4-E868-16A8-E5F3-88B4C8E4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D52151-3F54-3106-2AB2-62C370D2B7A0}"/>
              </a:ext>
            </a:extLst>
          </p:cNvPr>
          <p:cNvSpPr txBox="1"/>
          <p:nvPr/>
        </p:nvSpPr>
        <p:spPr>
          <a:xfrm>
            <a:off x="1219048" y="569483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rPr lang="en-US" sz="3600" b="1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6CAC2-3652-DFC6-DE6A-8110015930D4}"/>
              </a:ext>
            </a:extLst>
          </p:cNvPr>
          <p:cNvSpPr txBox="1"/>
          <p:nvPr/>
        </p:nvSpPr>
        <p:spPr>
          <a:xfrm>
            <a:off x="731521" y="1371600"/>
            <a:ext cx="77132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We have a clean and functional code that is made with only the basics of C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UI is very user friendly.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code allows a lot of room for new features and improvement in the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Our teamwork and distribution of workload according to our strength and weaknesses made the production smoother.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0B9B47-A9DC-E4B9-9B36-2AE652042184}"/>
              </a:ext>
            </a:extLst>
          </p:cNvPr>
          <p:cNvSpPr txBox="1"/>
          <p:nvPr/>
        </p:nvSpPr>
        <p:spPr>
          <a:xfrm>
            <a:off x="3194860" y="5341918"/>
            <a:ext cx="27542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5" name="Picture 4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0CB0BBA6-6417-C296-D35B-3BC05F60C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8" cy="1219048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CEB10B6E-96D1-B6A9-CFCA-E8537F3C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3482" y="6356350"/>
            <a:ext cx="3997036" cy="365125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Group 6: Abdul Hadi </a:t>
            </a:r>
            <a:r>
              <a:rPr lang="en-US" sz="1400" dirty="0" err="1">
                <a:solidFill>
                  <a:schemeClr val="bg1"/>
                </a:solidFill>
              </a:rPr>
              <a:t>Kabir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 &amp;  </a:t>
            </a:r>
            <a:r>
              <a:rPr lang="en-US" sz="1400" dirty="0" smtClean="0">
                <a:solidFill>
                  <a:schemeClr val="bg1"/>
                </a:solidFill>
              </a:rPr>
              <a:t>Ahnaf </a:t>
            </a:r>
            <a:r>
              <a:rPr lang="en-US" sz="1400" dirty="0" err="1" smtClean="0">
                <a:solidFill>
                  <a:schemeClr val="bg1"/>
                </a:solidFill>
              </a:rPr>
              <a:t>Tahmid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smtClean="0">
                <a:solidFill>
                  <a:schemeClr val="bg1"/>
                </a:solidFill>
              </a:rPr>
              <a:t>Islam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8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Pixel_Art_Editor_Midterm_Presentation</Template>
  <TotalTime>1142</TotalTime>
  <Words>817</Words>
  <Application>Microsoft Office PowerPoint</Application>
  <PresentationFormat>On-screen Show (4:3)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Abdul Hadi</dc:creator>
  <cp:keywords/>
  <dc:description>generated using python-pptx</dc:description>
  <cp:lastModifiedBy>ismail - [2010]</cp:lastModifiedBy>
  <cp:revision>15</cp:revision>
  <dcterms:created xsi:type="dcterms:W3CDTF">2025-12-11T18:51:00Z</dcterms:created>
  <dcterms:modified xsi:type="dcterms:W3CDTF">2025-12-13T12:28:44Z</dcterms:modified>
  <cp:category/>
</cp:coreProperties>
</file>